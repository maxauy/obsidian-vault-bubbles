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82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FD4C-76D4-366E-78ED-DD2F4178A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0F9CE-B8A2-7A63-1544-81BB354BD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E805E-F023-AD1C-FA6A-4D69370F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2EFA-C43B-41D2-8897-D2E9713CAD24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7B74C-839F-7C5C-DF02-DEEAF1994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5A951-2D06-3F1E-B426-F1401287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C6D6-D405-4F5A-8B9F-C9E52D6C8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34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F812-F626-5D33-AE35-0BCCD67C5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CE775-F163-21FC-5C8F-0A897F4DE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45788-FDCD-AA6D-7C73-5094F61E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2EFA-C43B-41D2-8897-D2E9713CAD24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7C244-371A-D094-B4F5-6858EBF6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28E6B-F857-60A3-3563-36529B12C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C6D6-D405-4F5A-8B9F-C9E52D6C8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385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9A4A5-18AB-03DA-DAC8-E8ACE60D2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F203D-CDE7-0A18-88B2-63CB75412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810EE-18E9-4BC3-7BF1-08FA32F8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2EFA-C43B-41D2-8897-D2E9713CAD24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C79D1-4188-EE80-4C8C-94304502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A7D52-9BCA-1DAF-06B4-BAD8A436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C6D6-D405-4F5A-8B9F-C9E52D6C8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079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CAE0-6631-543B-042D-BFE27B152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EA9B-CB24-D23C-B825-46B3BF524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947F6-1E36-5FF2-3EEF-1E6E647CD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A2A90-30FC-FF27-D76E-589A0CB1F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2EFA-C43B-41D2-8897-D2E9713CAD24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A7892-7ACA-61A4-021D-6E5E8664C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5999A-8C59-7CEC-0B15-735CE293A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C6D6-D405-4F5A-8B9F-C9E52D6C8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272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21CA4-490B-F75C-2BBD-02CBA95B9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18E9B-FB61-89E3-F6A2-ADC14DECA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08DFE-FF79-0B6C-EF45-BF2E04851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A61E1-8534-F1D9-76D0-94939AB45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65059-7686-63B6-E33E-16EA9C88AC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901B2B-FEFE-B618-A6E9-0F3E92F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2EFA-C43B-41D2-8897-D2E9713CAD24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EA6039-4DD0-ECE9-73BD-F385F7DE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F446D9-2DB9-A5F7-12D1-AEAD1AC74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C6D6-D405-4F5A-8B9F-C9E52D6C8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69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9DF0F-3E6D-E987-4CEF-FAA8A1DF9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E18C35-85CB-FD0C-E5EF-28B7E438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2EFA-C43B-41D2-8897-D2E9713CAD24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A7CB4-0886-8982-FFCE-93A74EB56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F3153-D465-693D-EBB9-AD242AB6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C6D6-D405-4F5A-8B9F-C9E52D6C8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60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296CD7-892D-8157-7250-A978683A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2EFA-C43B-41D2-8897-D2E9713CAD24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EC9112-4FBF-364A-AC3A-A3E9F3975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F0337-A6BF-4E2D-1BD1-4606E8F3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C6D6-D405-4F5A-8B9F-C9E52D6C8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232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437FB-2C30-99BA-E943-70778AA56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55D7F-2FC5-69F6-49D6-CBD9DC2AF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4E862-5655-9AFA-B273-89EDBF71E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AB2DD-CB68-A759-26D3-6E8ED1AFD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2EFA-C43B-41D2-8897-D2E9713CAD24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C1A54-3841-BD9F-9698-36B0CBA7E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CB0F8-9249-BF2E-2D5F-2E930C7E6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C6D6-D405-4F5A-8B9F-C9E52D6C8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17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EACCD-3C02-E5DC-88D0-9F7DEA7E6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E4EE96-14AF-A515-767B-0B072BE35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2681C-152A-7D7B-E7ED-BD68B4160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8EB03-0822-9597-E932-D0BDD2BCF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2EFA-C43B-41D2-8897-D2E9713CAD24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12D74-C48E-3C3D-E851-26043F259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91721-E420-000F-D0E9-FAD6AE3B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C6D6-D405-4F5A-8B9F-C9E52D6C8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159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8C23-5F77-133B-D8B3-192BD2A0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B5AE4-31CD-6C1A-9457-E78213D39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BC672-BAEE-2624-78C0-0D6E9C735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2EFA-C43B-41D2-8897-D2E9713CAD24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BFCD1-E995-D065-D8F7-EB409915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A94DD-786B-3D28-0CEE-9DAFA921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C6D6-D405-4F5A-8B9F-C9E52D6C8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95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0C472D-9036-7842-5319-82963F61B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A5B79-4758-0AA0-2C70-8D4CF9150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409A3-65B9-3AE2-465C-619691073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2EFA-C43B-41D2-8897-D2E9713CAD24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64311-6BEE-C9AA-34A5-13BF29D3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6FEB3-E826-8389-BC06-FDB6E664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1C6D6-D405-4F5A-8B9F-C9E52D6C8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268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FF0FD-35CF-DA40-F8DD-15F6DE84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EC1A8-038A-73C8-F280-B4A92EC60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13D0C-259D-94D3-4AED-21588A117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F2EFA-C43B-41D2-8897-D2E9713CAD24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7C1E4-8391-C393-2339-5D4968E69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4BDB8-7C3D-7A5F-DFF0-50B98183A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B1C6D6-D405-4F5A-8B9F-C9E52D6C8E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683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E5097-FD97-6448-D575-CF076FCE43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Research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7D2F0-AF9F-F51C-67BF-E4E323789D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507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30D24-27A5-21C2-2E2D-DD587C69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600B3-7337-9732-4AC6-FD271B0A1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Phase diagrams have been produced for ADV in water under a range of ultrasound conditions </a:t>
            </a:r>
          </a:p>
          <a:p>
            <a:r>
              <a:rPr lang="en-GB" dirty="0"/>
              <a:t>In 2024, researchers have attempted to model ADV in viscoelastic conditions.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68E0A0-2DE5-77D9-E568-39DEA4D6B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233" y="3777871"/>
            <a:ext cx="9688277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52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22D37-9EC3-8B33-4CFD-EE27696C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Bubble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99A75-47B3-D66C-DE6B-56DC3FAB2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Models for bubbles in viscoelastic media are readily available.</a:t>
            </a:r>
          </a:p>
        </p:txBody>
      </p:sp>
    </p:spTree>
    <p:extLst>
      <p:ext uri="{BB962C8B-B14F-4D97-AF65-F5344CB8AC3E}">
        <p14:creationId xmlns:p14="http://schemas.microsoft.com/office/powerpoint/2010/main" val="36467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B9783-00F3-1813-1EC8-1803B3858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Rheology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1F122-1180-BD26-1FE8-EF7CA2C4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Quantitative characterisation of tissues using ultrasound has been researched by measuring the speed of sound and attenuation.</a:t>
            </a:r>
          </a:p>
          <a:p>
            <a:r>
              <a:rPr lang="en-GB" dirty="0"/>
              <a:t>However, there is a limited range in bulk moduli inside tissues. Shear modulus has a greater dynamic range than bulk modulus.</a:t>
            </a:r>
          </a:p>
          <a:p>
            <a:r>
              <a:rPr lang="en-GB" dirty="0"/>
              <a:t>Microbubbles can be used to measure rheological properties by tracking them through the medium while pushing them with an ARF or by measuring the spectrum of the backscattered signal.</a:t>
            </a:r>
          </a:p>
          <a:p>
            <a:r>
              <a:rPr lang="en-GB" dirty="0"/>
              <a:t>Microbubble response changes significantly from differences in shear modulus.</a:t>
            </a:r>
          </a:p>
          <a:p>
            <a:r>
              <a:rPr lang="en-GB" dirty="0"/>
              <a:t>The shift in resonance frequency can be detected to estimate tissue properties.</a:t>
            </a:r>
          </a:p>
          <a:p>
            <a:r>
              <a:rPr lang="en-GB" dirty="0"/>
              <a:t>Bubbles can provide high-resolution information about the tissue at higher strain rates for applications such as surgery monitoring and impact injuries.</a:t>
            </a:r>
          </a:p>
        </p:txBody>
      </p:sp>
    </p:spTree>
    <p:extLst>
      <p:ext uri="{BB962C8B-B14F-4D97-AF65-F5344CB8AC3E}">
        <p14:creationId xmlns:p14="http://schemas.microsoft.com/office/powerpoint/2010/main" val="3520596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A672-0BDD-7B36-DB5D-CD2458549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Rheology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C4DF3-FA46-A2D1-9225-BA5C50AF0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ADV thresholds have been found to be affected by material properties.</a:t>
            </a:r>
          </a:p>
          <a:p>
            <a:r>
              <a:rPr lang="en-GB" dirty="0"/>
              <a:t>The ADV threshold of PFP droplets depends on the surrounding viscosity and gel stiffness.</a:t>
            </a:r>
          </a:p>
          <a:p>
            <a:r>
              <a:rPr lang="en-GB" dirty="0"/>
              <a:t>Higher viscosity fluids can drive recondensation at lower driving pressures.</a:t>
            </a:r>
          </a:p>
          <a:p>
            <a:r>
              <a:rPr lang="en-GB" dirty="0"/>
              <a:t>Diameter of bubbles generated through ADV are significantly smaller (35%) with higher fibrin density.</a:t>
            </a:r>
          </a:p>
          <a:p>
            <a:r>
              <a:rPr lang="en-GB" dirty="0"/>
              <a:t>Studies have yet to be done for NDs in media with varying viscoelastic properties.</a:t>
            </a:r>
          </a:p>
          <a:p>
            <a:r>
              <a:rPr lang="en-GB" dirty="0"/>
              <a:t>Studying the scattering could result in a high-resolution microrheological technique.</a:t>
            </a:r>
          </a:p>
        </p:txBody>
      </p:sp>
    </p:spTree>
    <p:extLst>
      <p:ext uri="{BB962C8B-B14F-4D97-AF65-F5344CB8AC3E}">
        <p14:creationId xmlns:p14="http://schemas.microsoft.com/office/powerpoint/2010/main" val="3007618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</TotalTime>
  <Words>244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Research Questions</vt:lpstr>
      <vt:lpstr>ADV modelling</vt:lpstr>
      <vt:lpstr>Bubble dynamics</vt:lpstr>
      <vt:lpstr>Rheology</vt:lpstr>
      <vt:lpstr>Rheology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Au-Yeung</dc:creator>
  <cp:lastModifiedBy>Max Au-Yeung</cp:lastModifiedBy>
  <cp:revision>1</cp:revision>
  <dcterms:created xsi:type="dcterms:W3CDTF">2026-08-07T07:38:22Z</dcterms:created>
  <dcterms:modified xsi:type="dcterms:W3CDTF">2026-08-07T13:50:30Z</dcterms:modified>
</cp:coreProperties>
</file>